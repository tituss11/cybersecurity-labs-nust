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64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309360" y="457200"/>
            <a:ext cx="3474720" cy="3474720"/>
          </a:xfrm>
          <a:prstGeom prst="ellipse">
            <a:avLst/>
          </a:prstGeom>
          <a:solidFill>
            <a:srgbClr val="1B4F72">
              <a:alpha val="22000"/>
            </a:srgbClr>
          </a:solidFill>
          <a:ln w="12700">
            <a:solidFill>
              <a:srgbClr val="1B4F72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858000" y="914400"/>
            <a:ext cx="2468880" cy="2468880"/>
          </a:xfrm>
          <a:prstGeom prst="ellipse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HCI711S  |  GROUP 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Learning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669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Functionality, Advantages &amp; Cybersecurity Implications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3075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</a:t>
            </a: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Apollus 222045868 |  Titus </a:t>
            </a:r>
            <a:r>
              <a:rPr lang="en-US" sz="1000" dirty="0" err="1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Shaangelo</a:t>
            </a: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222084774 | Rainhold </a:t>
            </a:r>
            <a:r>
              <a:rPr lang="en-US" sz="1000" dirty="0" err="1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Kaurembi</a:t>
            </a: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223002038 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Outline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9784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user modelling is the foundation of ALIs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01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ALIs?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0025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components &amp; functional examples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825496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25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26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Personalisation, inclusivity, predictive 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849624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849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Unauthorised Data Collection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777240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0916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777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9784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 on AI/ML Models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801368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0916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1801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0025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Authorisation Vulnerabilities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25496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70916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825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Guidelines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3026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· Privacy · Usability · Legislation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849624"/>
            <a:ext cx="3657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70916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849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40507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Adaptive Learning Interfaces?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321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systems that dynamically adjust content, layout, and delivery pace based on real-time analysis of individual user behaviour, performance, and preferences.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" y="1664208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56032" y="17190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" y="21945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505456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profile: knowledge state, style, preferences, progress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1664208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432304" y="17190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32304" y="21945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23744" y="2505456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component: analyses user model, drives adaptations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1664208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08576" y="17190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08576" y="21945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Repository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2505456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of learning objects and interface elements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84848" y="1664208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84848" y="17190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84848" y="21945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Mechanism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76288" y="2505456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responses: guides, corrects errors, reinforces learning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38221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Duolingo  ·  Khan Academy  ·  Knewton (Wiley)  ·  Microsoft Immersive Reader  ·  IBM Watson Tutor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of Adaptive Learning Interfaces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Personalisation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13385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content to individual needs — reduces overload, improves engagement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18688" y="74980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18688" y="74980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Improved Outcomes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13385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&amp; mastery progression enhance long-term retention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181344" y="74980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81344" y="74980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♿  Accessibility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2784" y="113385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diverse abilities, languages, and literacy levels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56032" y="285292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56032" y="285292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Real-Time Assessment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low-stakes assessment replaces high-stakes exams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285292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18688" y="285292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18688" y="285292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Scalability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2369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 at scale without proportional human resource costs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285292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181344" y="285292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81344" y="285292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 Predictive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32369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at-risk learners early; triggers proactive intervention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621792" cy="6217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40233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 &amp; Unauthorised Data Collection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4069080" cy="3712464"/>
          </a:xfrm>
          <a:prstGeom prst="rect">
            <a:avLst/>
          </a:prstGeom>
          <a:solidFill>
            <a:srgbClr val="1A050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47472" y="104241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THE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 collect:
</a:t>
            </a:r>
            <a:r>
              <a:rPr lang="en-US" sz="10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Behavioural biometrics
  •  Academic performance records
  •  Cognitive patterns &amp; learning styles
  •  Physiological data (some platforms)
Data aggregated over time creates detailed profiles — high-value targets. Breaches, insider threats, or third-party flaws enable identity theft, discrimination, and targeted manipulation (Stephanidis et al., 2025).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251960" cy="3712464"/>
          </a:xfrm>
          <a:prstGeom prst="rect">
            <a:avLst/>
          </a:prstGeom>
          <a:solidFill>
            <a:srgbClr val="051A0A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73168" y="1042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MITIGATION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4264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3168" y="16276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what is strictly necessary for the adaptive function.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20482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22494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· TLS 1.3 in transit for all user data.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3168" y="26700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73168" y="28712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RBAC enforced at every system layer.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32918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Impact Assessments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3493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PIAs before any system update or new integration.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4114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COPPA · Namibia Electronic Transactions &amp; Cybercrime Act 42 of 2019.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621792" cy="62179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40233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Attacks on AI/ML Models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816352" cy="1737360"/>
          </a:xfrm>
          <a:prstGeom prst="rect">
            <a:avLst/>
          </a:prstGeom>
          <a:solidFill>
            <a:srgbClr val="1A0E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56032" y="102412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Manipulation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399032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interactions fool the adaptive engine into false mastery scores or incorrect difficulty assessments.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987552"/>
            <a:ext cx="2816352" cy="1737360"/>
          </a:xfrm>
          <a:prstGeom prst="rect">
            <a:avLst/>
          </a:prstGeom>
          <a:solidFill>
            <a:srgbClr val="1A0E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27832" y="102412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Poisoning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9272" y="1399032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data injected into training pipelines degrades recommendations for all users — often undetected for extended periods.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987552"/>
            <a:ext cx="2816352" cy="1737360"/>
          </a:xfrm>
          <a:prstGeom prst="rect">
            <a:avLst/>
          </a:prstGeom>
          <a:solidFill>
            <a:srgbClr val="1A0E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99632" y="102412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Inversion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91072" y="1399032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model queries allow attackers to reconstruct private training data, exposing other users' learning profiles.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8659368" cy="1828800"/>
          </a:xfrm>
          <a:prstGeom prst="rect">
            <a:avLst/>
          </a:prstGeom>
          <a:solidFill>
            <a:srgbClr val="051A0A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2907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MITIGATION STRATEGIES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236976"/>
            <a:ext cx="84124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Anomaly Detection  </a:t>
            </a:r>
            <a:r>
              <a:rPr lang="en-US" sz="10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statistically anomalous interaction patterns in real-time.    </a:t>
            </a:r>
            <a:r>
              <a:rPr lang="en-US" sz="1050" b="1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 </a:t>
            </a:r>
            <a:r>
              <a:rPr lang="en-US" sz="10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adversarial examples in training to improve model robustness.    </a:t>
            </a:r>
            <a:r>
              <a:rPr lang="en-US" sz="1050" b="1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Frameworks  </a:t>
            </a:r>
            <a:r>
              <a:rPr lang="en-US" sz="10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Explainable AI to audit adaptive decisions and detect model drift.    </a:t>
            </a:r>
            <a:r>
              <a:rPr lang="en-US" sz="1050" b="1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ML Pipelines  </a:t>
            </a:r>
            <a:r>
              <a:rPr lang="en-US" sz="105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 training data; monitor integrity throughout the pipeline.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621792" cy="62179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40233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Authorisation Vulnerabilities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4069080" cy="3712464"/>
          </a:xfrm>
          <a:prstGeom prst="rect">
            <a:avLst/>
          </a:prstGeom>
          <a:solidFill>
            <a:srgbClr val="050A1A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47472" y="104241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THE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264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 / Weak Passwords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64592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enables academic fraud or data exposure in educational contexts.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Session Tokens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239572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or long-lived tokens enable session hijacking.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29260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RBAC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314553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gain access to instructor dashboards and peers' performance data.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367588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" y="389534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attacks exploit leaked credential databases against ALI login endpoints.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987552"/>
            <a:ext cx="4251960" cy="3712464"/>
          </a:xfrm>
          <a:prstGeom prst="rect">
            <a:avLst/>
          </a:prstGeom>
          <a:solidFill>
            <a:srgbClr val="051A0A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73168" y="1042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MITIGATION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4264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16276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all users; critical for instructors and admins.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3168" y="20482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22494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access request regardless of network origin.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26700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RBAC + Quarterly Audits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28712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principle with regular access reviews.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32918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 Management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73168" y="3493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random tokens with short expiry windows.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Lockouts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4114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credential stuffing with anomaly-based rate limiting.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HCI Guidelines &amp; Ethical Considerations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13385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decisions; bias audits; user right to contest.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18688" y="74980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18688" y="74980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Privacy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13385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consent; privacy-by-design; GDPR rights of access &amp; erasure.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181344" y="74980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81344" y="74980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Usability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2784" y="113385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Intuitive, accessible interfaces; avoid disorienting adaptations.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56032" y="285292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56032" y="285292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Intellectual Property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properly licensed; adaptive remix must comply with terms.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285292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18688" y="285292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18688" y="285292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Legislation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2369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COPPA · Namibia Electronic Transactions &amp; Cybercrime Act 42/2019.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285292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181344" y="2852928"/>
            <a:ext cx="279806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81344" y="2852928"/>
            <a:ext cx="2798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Accuracy &amp; Diversity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32369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model validation; universal design for all users &amp; contexts.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Key Takeaways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93776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56032" y="804672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804672"/>
            <a:ext cx="8065008" cy="530352"/>
          </a:xfrm>
          <a:prstGeom prst="rect">
            <a:avLst/>
          </a:prstGeom>
          <a:solidFill>
            <a:srgbClr val="1B4F72">
              <a:alpha val="18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60120" y="80467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 represent a fundamental shift in HCI — AI-driven, personalised, inclusive learning at scale.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493776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6032" y="1609344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1609344"/>
            <a:ext cx="8065008" cy="530352"/>
          </a:xfrm>
          <a:prstGeom prst="rect">
            <a:avLst/>
          </a:prstGeom>
          <a:solidFill>
            <a:srgbClr val="1B4F72">
              <a:alpha val="18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0120" y="160934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security concerns: Data Privacy Breaches · Adversarial AI Attacks · Authentication Vulnerabilities.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" y="2414016"/>
            <a:ext cx="493776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6032" y="2414016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414016"/>
            <a:ext cx="8065008" cy="530352"/>
          </a:xfrm>
          <a:prstGeom prst="rect">
            <a:avLst/>
          </a:prstGeom>
          <a:solidFill>
            <a:srgbClr val="1B4F72">
              <a:alpha val="18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60120" y="241401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Encryption + MFA + Zero-Trust + Adversarial Training + Privacy-by-Design + RBAC.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6032" y="3218688"/>
            <a:ext cx="493776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6032" y="3218688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218688"/>
            <a:ext cx="8065008" cy="530352"/>
          </a:xfrm>
          <a:prstGeom prst="rect">
            <a:avLst/>
          </a:prstGeom>
          <a:solidFill>
            <a:srgbClr val="1B4F72">
              <a:alpha val="18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ethics demands transparency, fairness, usability, and user diversity in all adaptive deployments.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4023360"/>
            <a:ext cx="493776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56032" y="4023360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023360"/>
            <a:ext cx="8065008" cy="530352"/>
          </a:xfrm>
          <a:prstGeom prst="rect">
            <a:avLst/>
          </a:prstGeom>
          <a:solidFill>
            <a:srgbClr val="1B4F72">
              <a:alpha val="18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60120" y="40233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 is non-negotiable: GDPR, COPPA, and Namibia's Cybercrime Act 42 of 2019 all apply.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873</Words>
  <Application>Microsoft Office PowerPoint</Application>
  <PresentationFormat>On-screen Show (16:9)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222045868 - STELLA APOLLUS</cp:lastModifiedBy>
  <cp:revision>2</cp:revision>
  <dcterms:created xsi:type="dcterms:W3CDTF">2026-05-24T12:41:25Z</dcterms:created>
  <dcterms:modified xsi:type="dcterms:W3CDTF">2026-05-25T13:59:10Z</dcterms:modified>
</cp:coreProperties>
</file>